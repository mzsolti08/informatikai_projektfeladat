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9"/>
  </p:notesMasterIdLst>
  <p:handoutMasterIdLst>
    <p:handoutMasterId r:id="rId20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6" r:id="rId8"/>
    <p:sldId id="264" r:id="rId9"/>
    <p:sldId id="267" r:id="rId10"/>
    <p:sldId id="268" r:id="rId11"/>
    <p:sldId id="262" r:id="rId12"/>
    <p:sldId id="269" r:id="rId13"/>
    <p:sldId id="271" r:id="rId14"/>
    <p:sldId id="272" r:id="rId15"/>
    <p:sldId id="274" r:id="rId16"/>
    <p:sldId id="270" r:id="rId17"/>
    <p:sldId id="26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AEEA8C-D79B-4D7E-9B24-9CDE292BA524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D92CB86-0DB9-4A70-B1CF-B23508471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5764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747FBB5-06FC-4B7C-805A-71D5B2DC73D7}" type="datetime1">
              <a:rPr lang="hu-HU" smtClean="0"/>
              <a:t>2026. 05. 14.</a:t>
            </a:fld>
            <a:endParaRPr lang="en-US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"/>
              <a:t>Mintaszöveg szerkesztése</a:t>
            </a:r>
            <a:endParaRPr lang="en-US"/>
          </a:p>
          <a:p>
            <a:pPr lvl="1" rtl="0"/>
            <a:r>
              <a:rPr lang="hu"/>
              <a:t>Második szint</a:t>
            </a:r>
          </a:p>
          <a:p>
            <a:pPr lvl="2" rtl="0"/>
            <a:r>
              <a:rPr lang="hu"/>
              <a:t>Harmadik szint</a:t>
            </a:r>
          </a:p>
          <a:p>
            <a:pPr lvl="3" rtl="0"/>
            <a:r>
              <a:rPr lang="hu"/>
              <a:t>Negyedik szint</a:t>
            </a:r>
          </a:p>
          <a:p>
            <a:pPr lvl="4" rtl="0"/>
            <a:r>
              <a:rPr lang="hu"/>
              <a:t>Ötödik szint</a:t>
            </a:r>
            <a:endParaRPr lang="en-US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2B151B-D7D1-48E5-8230-5AADBC794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927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756443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0007955"/>
      </p:ext>
    </p:extLst>
  </p:cSld>
  <p:clrMapOvr>
    <a:masterClrMapping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207038"/>
      </p:ext>
    </p:extLst>
  </p:cSld>
  <p:clrMapOvr>
    <a:masterClrMapping/>
  </p:clrMapOvr>
  <p:hf sldNum="0"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871247"/>
      </p:ext>
    </p:extLst>
  </p:cSld>
  <p:clrMapOvr>
    <a:masterClrMapping/>
  </p:clrMapOvr>
  <p:hf sldNum="0"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3401660"/>
      </p:ext>
    </p:extLst>
  </p:cSld>
  <p:clrMapOvr>
    <a:masterClrMapping/>
  </p:clrMapOvr>
  <p:hf sldNum="0"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138034"/>
      </p:ext>
    </p:extLst>
  </p:cSld>
  <p:clrMapOvr>
    <a:masterClrMapping/>
  </p:clrMapOvr>
  <p:hf sldNum="0"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752460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517635"/>
      </p:ext>
    </p:extLst>
  </p:cSld>
  <p:clrMapOvr>
    <a:masterClrMapping/>
  </p:clrMapOvr>
  <p:hf sldNum="0"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0662568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690238"/>
      </p:ext>
    </p:extLst>
  </p:cSld>
  <p:clrMapOvr>
    <a:masterClrMapping/>
  </p:clrMapOvr>
  <p:hf sldNum="0"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295339"/>
      </p:ext>
    </p:extLst>
  </p:cSld>
  <p:clrMapOvr>
    <a:masterClrMapping/>
  </p:clrMapOvr>
  <p:hf sldNum="0"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464506"/>
      </p:ext>
    </p:extLst>
  </p:cSld>
  <p:clrMapOvr>
    <a:masterClrMapping/>
  </p:clrMapOvr>
  <p:hf sldNum="0" hdr="0" ft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4792"/>
      </p:ext>
    </p:extLst>
  </p:cSld>
  <p:clrMapOvr>
    <a:masterClrMapping/>
  </p:clrMapOvr>
  <p:hf sldNum="0" hdr="0" ft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863429"/>
      </p:ext>
    </p:extLst>
  </p:cSld>
  <p:clrMapOvr>
    <a:masterClrMapping/>
  </p:clrMapOvr>
  <p:hf sldNum="0" hdr="0" ft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019764"/>
      </p:ext>
    </p:extLst>
  </p:cSld>
  <p:clrMapOvr>
    <a:masterClrMapping/>
  </p:clrMapOvr>
  <p:hf sldNum="0" hdr="0" ft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659425"/>
      </p:ext>
    </p:extLst>
  </p:cSld>
  <p:clrMapOvr>
    <a:masterClrMapping/>
  </p:clrMapOvr>
  <p:hf sldNum="0" hdr="0" ft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15551"/>
      </p:ext>
    </p:extLst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BB79EBFC-01B3-48F8-A130-8344AF273ED8}" type="datetime1">
              <a:rPr lang="hu-HU" smtClean="0"/>
              <a:t>2026. 05. 14.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6556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hf sldNum="0" hdr="0" ftr="0"/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0540" y="639097"/>
            <a:ext cx="6532532" cy="3686015"/>
          </a:xfrm>
        </p:spPr>
        <p:txBody>
          <a:bodyPr rtlCol="0">
            <a:normAutofit fontScale="90000"/>
          </a:bodyPr>
          <a:lstStyle/>
          <a:p>
            <a:pPr rtl="0"/>
            <a:r>
              <a:rPr lang="hu" sz="8000"/>
              <a:t>Tevékenységfigyelő redszer</a:t>
            </a:r>
            <a:endParaRPr lang="hu" sz="80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541" y="4672739"/>
            <a:ext cx="6548560" cy="1021498"/>
          </a:xfrm>
        </p:spPr>
        <p:txBody>
          <a:bodyPr rtlCol="0">
            <a:normAutofit/>
          </a:bodyPr>
          <a:lstStyle/>
          <a:p>
            <a:pPr rtl="0"/>
            <a:r>
              <a:rPr lang="hu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Készítette: móni zsolt</a:t>
            </a:r>
          </a:p>
        </p:txBody>
      </p:sp>
      <p:pic>
        <p:nvPicPr>
          <p:cNvPr id="5" name="Kép 4" descr="Épületet, ülőhelyet, padot és oldalt ábrázoló kép&#10;&#10;Automatikusan létrehozott leírás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103E-2F38-0BBF-291D-D2CD4FD8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old meg?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32F3EA6-D1FA-659A-7FD0-1FB3E26962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2758" y="2050965"/>
            <a:ext cx="10064653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A hagyományos megfigyelőrendszerek nem képesek értelmezni a látottakat, csak rögzítik az eseményeket.</a:t>
            </a:r>
            <a:endParaRPr lang="hu-HU" altLang="hu-HU" sz="3200" dirty="0"/>
          </a:p>
          <a:p>
            <a:pPr defTabSz="914400" eaLnBrk="0" fontAlgn="base" hangingPunct="0">
              <a:spcBef>
                <a:spcPts val="1200"/>
              </a:spcBef>
              <a:spcAft>
                <a:spcPct val="0"/>
              </a:spcAft>
              <a:buClrTx/>
              <a:buSzTx/>
            </a:pPr>
            <a:r>
              <a:rPr lang="hu-HU" sz="2800" dirty="0"/>
              <a:t>Valós idejű képfeldolgozás során az objektumok és személyek felismerése kihívást jelent.</a:t>
            </a:r>
            <a:endParaRPr lang="hu-HU" altLang="hu-HU" sz="3600" dirty="0"/>
          </a:p>
        </p:txBody>
      </p:sp>
    </p:spTree>
    <p:extLst>
      <p:ext uri="{BB962C8B-B14F-4D97-AF65-F5344CB8AC3E}">
        <p14:creationId xmlns:p14="http://schemas.microsoft.com/office/powerpoint/2010/main" val="339120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3E8EF-9107-375A-9E76-9688523A1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Mit tud és mit fog tudni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CA07E-713E-E8FA-A497-AD9192422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Jelenleg tudja: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13A02C5-A706-3623-A7C9-CE6CFA139AE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429280" y="3234103"/>
            <a:ext cx="339868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Tárgyfelismerés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Arcfelismerés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Emberfeilmerés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2400" dirty="0"/>
              <a:t> Valós idejű működés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1DA901-8B8E-1278-5250-AE83EA37EC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80660" y="2657841"/>
            <a:ext cx="4604280" cy="576262"/>
          </a:xfrm>
        </p:spPr>
        <p:txBody>
          <a:bodyPr/>
          <a:lstStyle/>
          <a:p>
            <a:r>
              <a:rPr lang="hu-HU" dirty="0"/>
              <a:t>Tudni fogja: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41122B-DF31-95F6-39BC-66A936354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80660" y="3234103"/>
            <a:ext cx="5921861" cy="2547937"/>
          </a:xfrm>
        </p:spPr>
        <p:txBody>
          <a:bodyPr/>
          <a:lstStyle/>
          <a:p>
            <a:r>
              <a:rPr lang="hu-HU" sz="2400" dirty="0"/>
              <a:t>Tevékenység figyelés (ember + telefon = telefonozik)</a:t>
            </a:r>
          </a:p>
          <a:p>
            <a:r>
              <a:rPr lang="hu-HU" sz="2400" dirty="0"/>
              <a:t>Emberek megjegyzése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29553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5A586-1D4E-4FFC-1D91-6A1F7D5DF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Használt technológiák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F268-361D-96FF-070B-88277C7C3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28460"/>
            <a:ext cx="9905998" cy="3124201"/>
          </a:xfrm>
        </p:spPr>
        <p:txBody>
          <a:bodyPr>
            <a:normAutofit/>
          </a:bodyPr>
          <a:lstStyle/>
          <a:p>
            <a:r>
              <a:rPr lang="hu-HU" sz="2400" dirty="0"/>
              <a:t>Python</a:t>
            </a:r>
          </a:p>
          <a:p>
            <a:r>
              <a:rPr lang="hu-HU" sz="2400" dirty="0" err="1"/>
              <a:t>OpenCV</a:t>
            </a:r>
            <a:r>
              <a:rPr lang="hu-HU" sz="2400" dirty="0"/>
              <a:t> - képek és videók feldolgozását, valamint valós idejű kamerakezelést tesz lehetővé.</a:t>
            </a:r>
          </a:p>
          <a:p>
            <a:r>
              <a:rPr lang="hu-HU" sz="2400" dirty="0"/>
              <a:t>YOLOv8 - mélytanulás alapú objektumdetektáló modell.</a:t>
            </a:r>
            <a:endParaRPr lang="hu-HU" sz="2800" dirty="0"/>
          </a:p>
          <a:p>
            <a:r>
              <a:rPr lang="hu-HU" sz="2400" dirty="0" err="1"/>
              <a:t>Haar</a:t>
            </a:r>
            <a:r>
              <a:rPr lang="hu-HU" sz="2400" dirty="0"/>
              <a:t> </a:t>
            </a:r>
            <a:r>
              <a:rPr lang="hu-HU" sz="2400" dirty="0" err="1"/>
              <a:t>cascade</a:t>
            </a:r>
            <a:r>
              <a:rPr lang="hu-HU" sz="2400" dirty="0"/>
              <a:t> - gyors arcfelismerő algoritmus.</a:t>
            </a:r>
          </a:p>
        </p:txBody>
      </p:sp>
    </p:spTree>
    <p:extLst>
      <p:ext uri="{BB962C8B-B14F-4D97-AF65-F5344CB8AC3E}">
        <p14:creationId xmlns:p14="http://schemas.microsoft.com/office/powerpoint/2010/main" val="923908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AA390-FDE4-44F7-ABCE-CD4B3261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07F6D-33F3-3460-7AA3-DF5747232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Kamera → Kép → YOLO → Objektumok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           ↓</a:t>
            </a:r>
          </a:p>
          <a:p>
            <a:pPr marL="1257300" lvl="3" indent="0">
              <a:buNone/>
            </a:pPr>
            <a:r>
              <a:rPr lang="hu-HU" sz="2400" dirty="0"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</a:effectLst>
              </a:rPr>
              <a:t>       Arc detektor → Arc</a:t>
            </a:r>
          </a:p>
        </p:txBody>
      </p:sp>
    </p:spTree>
    <p:extLst>
      <p:ext uri="{BB962C8B-B14F-4D97-AF65-F5344CB8AC3E}">
        <p14:creationId xmlns:p14="http://schemas.microsoft.com/office/powerpoint/2010/main" val="1104204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C540-741C-094C-66F1-9F8424374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9290"/>
            <a:ext cx="10115938" cy="909734"/>
          </a:xfrm>
        </p:spPr>
        <p:txBody>
          <a:bodyPr/>
          <a:lstStyle/>
          <a:p>
            <a:r>
              <a:rPr lang="hu-HU" dirty="0"/>
              <a:t>Eredmények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E7BEF-BED2-E1C7-2E96-EBF534063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490" y="211466"/>
            <a:ext cx="9133474" cy="53430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CEF508-865F-25B1-4BBB-B7DD01B19A3F}"/>
              </a:ext>
            </a:extLst>
          </p:cNvPr>
          <p:cNvSpPr txBox="1"/>
          <p:nvPr/>
        </p:nvSpPr>
        <p:spPr>
          <a:xfrm>
            <a:off x="3041778" y="5722805"/>
            <a:ext cx="75951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Kék négyzet: Ember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Piros négyzet: Arc detektálása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Zöld négyzet: Tárgyak detektálása</a:t>
            </a:r>
          </a:p>
        </p:txBody>
      </p:sp>
    </p:spTree>
    <p:extLst>
      <p:ext uri="{BB962C8B-B14F-4D97-AF65-F5344CB8AC3E}">
        <p14:creationId xmlns:p14="http://schemas.microsoft.com/office/powerpoint/2010/main" val="3553324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C7ED6E-7040-C2EF-B946-D727553A1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933" y="286828"/>
            <a:ext cx="9184134" cy="53861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EE3884-2F11-D839-1775-4F1A5195166B}"/>
              </a:ext>
            </a:extLst>
          </p:cNvPr>
          <p:cNvSpPr txBox="1"/>
          <p:nvPr/>
        </p:nvSpPr>
        <p:spPr>
          <a:xfrm>
            <a:off x="612768" y="5952930"/>
            <a:ext cx="109664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/>
              <a:t>A szöveg melletti szám 0-1: Azt jelenti, hogy az AI modell mennyire biztos.</a:t>
            </a:r>
          </a:p>
        </p:txBody>
      </p:sp>
    </p:spTree>
    <p:extLst>
      <p:ext uri="{BB962C8B-B14F-4D97-AF65-F5344CB8AC3E}">
        <p14:creationId xmlns:p14="http://schemas.microsoft.com/office/powerpoint/2010/main" val="116505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D9D58B1-C230-8A95-523E-D43F0B64D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korlátok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6C51E0-1501-176D-5BA1-0B02EB609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Rossz fény – pontatlanságot, szemcsésedést szül.</a:t>
            </a:r>
          </a:p>
          <a:p>
            <a:r>
              <a:rPr lang="hu-HU" sz="2400" dirty="0"/>
              <a:t>Kéz – néha embernek érzékeli</a:t>
            </a:r>
          </a:p>
          <a:p>
            <a:r>
              <a:rPr lang="hu-HU" sz="2400" dirty="0"/>
              <a:t>Nem teljes emberfelismerés – jelenleg még nem tudja</a:t>
            </a:r>
          </a:p>
        </p:txBody>
      </p:sp>
    </p:spTree>
    <p:extLst>
      <p:ext uri="{BB962C8B-B14F-4D97-AF65-F5344CB8AC3E}">
        <p14:creationId xmlns:p14="http://schemas.microsoft.com/office/powerpoint/2010/main" val="1856632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2BB45-B893-F660-7640-64487A6F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Tényleges tevékenység figyelés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320F-C7BA-5CAE-D814-B9B125F10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PL.:</a:t>
            </a:r>
          </a:p>
          <a:p>
            <a:r>
              <a:rPr lang="it-IT" sz="2400" dirty="0"/>
              <a:t>ha </a:t>
            </a:r>
            <a:r>
              <a:rPr lang="hu-HU" sz="2400" dirty="0"/>
              <a:t>személy</a:t>
            </a:r>
            <a:r>
              <a:rPr lang="it-IT" sz="2400" dirty="0"/>
              <a:t> + </a:t>
            </a:r>
            <a:r>
              <a:rPr lang="hu-HU" sz="2400" dirty="0"/>
              <a:t>telefon</a:t>
            </a:r>
            <a:r>
              <a:rPr lang="it-IT" sz="2400" dirty="0"/>
              <a:t> közel van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it-IT" sz="2400" dirty="0"/>
              <a:t> </a:t>
            </a:r>
            <a:r>
              <a:rPr lang="hu-HU" sz="2400" dirty="0"/>
              <a:t>Telefonozik</a:t>
            </a:r>
          </a:p>
          <a:p>
            <a:r>
              <a:rPr lang="hu-HU" sz="2400" dirty="0"/>
              <a:t>személy + laptop </a:t>
            </a:r>
            <a:r>
              <a:rPr lang="hu-HU" sz="2400" dirty="0">
                <a:sym typeface="Wingdings" panose="05000000000000000000" pitchFamily="2" charset="2"/>
              </a:rPr>
              <a:t></a:t>
            </a:r>
            <a:r>
              <a:rPr lang="hu-HU" sz="2400" dirty="0"/>
              <a:t> Dolgozik</a:t>
            </a:r>
          </a:p>
          <a:p>
            <a:r>
              <a:rPr lang="fr-FR" sz="2400" dirty="0" err="1"/>
              <a:t>nincs</a:t>
            </a:r>
            <a:r>
              <a:rPr lang="fr-FR" sz="2400" dirty="0"/>
              <a:t> </a:t>
            </a:r>
            <a:r>
              <a:rPr lang="hu-HU" sz="2400" dirty="0"/>
              <a:t>arc</a:t>
            </a:r>
            <a:r>
              <a:rPr lang="fr-FR" sz="2400" dirty="0"/>
              <a:t>/</a:t>
            </a:r>
            <a:r>
              <a:rPr lang="hu-HU" sz="2400" dirty="0"/>
              <a:t>személy</a:t>
            </a:r>
            <a:r>
              <a:rPr lang="fr-FR" sz="2400" dirty="0"/>
              <a:t> X </a:t>
            </a:r>
            <a:r>
              <a:rPr lang="fr-FR" sz="2400" dirty="0" err="1"/>
              <a:t>másodpercig</a:t>
            </a:r>
            <a:r>
              <a:rPr lang="hu-HU" sz="2400" dirty="0"/>
              <a:t> </a:t>
            </a:r>
            <a:r>
              <a:rPr lang="hu-HU" sz="2400" dirty="0">
                <a:sym typeface="Wingdings" panose="05000000000000000000" pitchFamily="2" charset="2"/>
              </a:rPr>
              <a:t> Nincs jelenlét</a:t>
            </a:r>
          </a:p>
          <a:p>
            <a:r>
              <a:rPr lang="hu-HU" sz="2400" dirty="0">
                <a:sym typeface="Wingdings" panose="05000000000000000000" pitchFamily="2" charset="2"/>
              </a:rPr>
              <a:t>Személy sokat mozog  Mozgás, különben </a:t>
            </a:r>
            <a:r>
              <a:rPr lang="hu-HU" sz="2400" dirty="0" err="1">
                <a:sym typeface="Wingdings" panose="05000000000000000000" pitchFamily="2" charset="2"/>
              </a:rPr>
              <a:t>passiv</a:t>
            </a:r>
            <a:endParaRPr lang="hu-HU" sz="2400" dirty="0">
              <a:sym typeface="Wingdings" panose="05000000000000000000" pitchFamily="2" charset="2"/>
            </a:endParaRPr>
          </a:p>
          <a:p>
            <a:r>
              <a:rPr lang="hu-HU" sz="2400" dirty="0">
                <a:sym typeface="Wingdings" panose="05000000000000000000" pitchFamily="2" charset="2"/>
              </a:rPr>
              <a:t>Log-</a:t>
            </a:r>
            <a:r>
              <a:rPr lang="hu-HU" sz="2400" dirty="0" err="1">
                <a:sym typeface="Wingdings" panose="05000000000000000000" pitchFamily="2" charset="2"/>
              </a:rPr>
              <a:t>olás</a:t>
            </a: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96271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7D7D-675F-3517-4B13-07711C01C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Működési elv </a:t>
            </a:r>
            <a:r>
              <a:rPr lang="hu-HU" dirty="0" err="1"/>
              <a:t>újragondolva</a:t>
            </a:r>
            <a:endParaRPr lang="hu-H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EC1AC-6C8C-F986-031A-7010D1F42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79170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3200" dirty="0"/>
              <a:t>kamera → felismerés → következtetés → naplózás</a:t>
            </a:r>
          </a:p>
        </p:txBody>
      </p:sp>
    </p:spTree>
    <p:extLst>
      <p:ext uri="{BB962C8B-B14F-4D97-AF65-F5344CB8AC3E}">
        <p14:creationId xmlns:p14="http://schemas.microsoft.com/office/powerpoint/2010/main" val="1909668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FCBBD-1B4E-6ECA-97C2-BBBFCB57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optimalizálás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0C12-A84C-B489-54D2-CBC4480095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68419"/>
            <a:ext cx="9905998" cy="3124201"/>
          </a:xfrm>
        </p:spPr>
        <p:txBody>
          <a:bodyPr/>
          <a:lstStyle/>
          <a:p>
            <a:r>
              <a:rPr lang="hu-HU" sz="2400" dirty="0"/>
              <a:t>Kisebb felbontáson futtatás</a:t>
            </a:r>
          </a:p>
          <a:p>
            <a:r>
              <a:rPr lang="hu-HU" sz="2400" dirty="0"/>
              <a:t>Visszaskálázás - a képfeldolgozást kisebb felbontású képen végezzük a gyorsabb működés érdekében.</a:t>
            </a:r>
          </a:p>
          <a:p>
            <a:r>
              <a:rPr lang="hu-HU" sz="2400" dirty="0"/>
              <a:t>Gyorsabb feldolgozás - a képfeldolgozás több képkockán tud megtörténni másodpercenként, ami valós idejű működést tesz lehetővé.</a:t>
            </a:r>
          </a:p>
        </p:txBody>
      </p:sp>
    </p:spTree>
    <p:extLst>
      <p:ext uri="{BB962C8B-B14F-4D97-AF65-F5344CB8AC3E}">
        <p14:creationId xmlns:p14="http://schemas.microsoft.com/office/powerpoint/2010/main" val="4087870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EA3D02F-B60D-8B89-BC07-5E2F9CB6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39" y="286463"/>
            <a:ext cx="10656721" cy="628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834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69FFE16-B4D3-9FC2-11ED-D9A1CE53E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57" y="275253"/>
            <a:ext cx="10679886" cy="630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0613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C81D4-5FEA-6BB5-D68E-5EAA75E53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DDFDB-175B-1B9A-47B6-6BD92CFD1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D5DFB-61FD-13D4-82DC-63D8D3B8A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" y="331416"/>
            <a:ext cx="10598561" cy="619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035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252FC-5B06-7563-8B33-17D93EB05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617" y="263324"/>
            <a:ext cx="9905998" cy="1905000"/>
          </a:xfrm>
        </p:spPr>
        <p:txBody>
          <a:bodyPr/>
          <a:lstStyle/>
          <a:p>
            <a:r>
              <a:rPr lang="hu-HU" dirty="0"/>
              <a:t>Tevékenység felismerése: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036A5C-F332-43C3-4129-EA1B3D63D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551" y="1985761"/>
            <a:ext cx="3934374" cy="2886478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8B7FC5-513E-B09A-AD0B-6ACE79815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601" y="633945"/>
            <a:ext cx="4601217" cy="3753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70B7AE-420E-9CDE-2AA1-6C4CB1535850}"/>
              </a:ext>
            </a:extLst>
          </p:cNvPr>
          <p:cNvSpPr txBox="1"/>
          <p:nvPr/>
        </p:nvSpPr>
        <p:spPr>
          <a:xfrm>
            <a:off x="525608" y="5394526"/>
            <a:ext cx="111407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 a tevékenységek sorrendje! Ha a telefonozás lejjebb van, mint a pihenés, akkor a pihenés lesz a felismert tevékenység.</a:t>
            </a:r>
          </a:p>
        </p:txBody>
      </p:sp>
    </p:spTree>
    <p:extLst>
      <p:ext uri="{BB962C8B-B14F-4D97-AF65-F5344CB8AC3E}">
        <p14:creationId xmlns:p14="http://schemas.microsoft.com/office/powerpoint/2010/main" val="1160251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F3B2-9D4F-02B4-869A-20F955B81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45" y="320351"/>
            <a:ext cx="9905998" cy="1905000"/>
          </a:xfrm>
        </p:spPr>
        <p:txBody>
          <a:bodyPr/>
          <a:lstStyle/>
          <a:p>
            <a:r>
              <a:rPr lang="hu-HU" dirty="0"/>
              <a:t>Log-</a:t>
            </a:r>
            <a:r>
              <a:rPr lang="hu-HU" dirty="0" err="1"/>
              <a:t>olás</a:t>
            </a:r>
            <a:endParaRPr lang="hu-H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3BBF4-6452-ACEB-743E-5D00FCE90365}"/>
              </a:ext>
            </a:extLst>
          </p:cNvPr>
          <p:cNvSpPr txBox="1"/>
          <p:nvPr/>
        </p:nvSpPr>
        <p:spPr>
          <a:xfrm>
            <a:off x="531845" y="2385881"/>
            <a:ext cx="59342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Fontos, hogy legyen log, mivel egy ilyen programnál lényeges adatokat lehet kigyűjteni.</a:t>
            </a:r>
          </a:p>
          <a:p>
            <a:endParaRPr lang="hu-HU" sz="2400" dirty="0"/>
          </a:p>
          <a:p>
            <a:r>
              <a:rPr lang="hu-HU" sz="2400" dirty="0"/>
              <a:t>Arc-hoz kötött tevékenység felismerés, az </a:t>
            </a:r>
            <a:r>
              <a:rPr lang="hu-HU" sz="2400" dirty="0" err="1"/>
              <a:t>unknown</a:t>
            </a:r>
            <a:r>
              <a:rPr lang="hu-HU" sz="2400" dirty="0"/>
              <a:t> azt jelenti, hogy nem talált arcot a képen, tehát tevékenységet sem tudott felismerni.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66E399-33BD-6925-2698-148A3466C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868" y="399689"/>
            <a:ext cx="4324954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1093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AB6354C-D115-D507-0A47-18936725B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24057665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320</Words>
  <Application>Microsoft Office PowerPoint</Application>
  <PresentationFormat>Widescreen</PresentationFormat>
  <Paragraphs>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Century Gothic</vt:lpstr>
      <vt:lpstr>Wingdings</vt:lpstr>
      <vt:lpstr>Mesh</vt:lpstr>
      <vt:lpstr>Tevékenységfigyelő redszer</vt:lpstr>
      <vt:lpstr>Mit old meg?</vt:lpstr>
      <vt:lpstr>Mit tud és mit fog tudni</vt:lpstr>
      <vt:lpstr>Használt technológiák</vt:lpstr>
      <vt:lpstr>Működési elv</vt:lpstr>
      <vt:lpstr>Eredmények</vt:lpstr>
      <vt:lpstr>PowerPoint Presentation</vt:lpstr>
      <vt:lpstr>korlátok</vt:lpstr>
      <vt:lpstr>Tényleges tevékenység figyelés</vt:lpstr>
      <vt:lpstr>Működési elv újragondolva</vt:lpstr>
      <vt:lpstr>optimalizálás</vt:lpstr>
      <vt:lpstr>PowerPoint Presentation</vt:lpstr>
      <vt:lpstr>PowerPoint Presentation</vt:lpstr>
      <vt:lpstr>PowerPoint Presentation</vt:lpstr>
      <vt:lpstr>Tevékenység felismerése:</vt:lpstr>
      <vt:lpstr>Log-olás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Zsolt Móni</dc:creator>
  <cp:lastModifiedBy>Zsolt Móni</cp:lastModifiedBy>
  <cp:revision>12</cp:revision>
  <dcterms:created xsi:type="dcterms:W3CDTF">2026-04-29T18:47:57Z</dcterms:created>
  <dcterms:modified xsi:type="dcterms:W3CDTF">2026-05-14T07:46:13Z</dcterms:modified>
</cp:coreProperties>
</file>